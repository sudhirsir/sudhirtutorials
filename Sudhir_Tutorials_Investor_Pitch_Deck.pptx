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15043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F4444"/>
                </a:solidFill>
              </a:rPr>
              <a:t>SUDHIR </a:t>
            </a:r>
            <a:r>
              <a:rPr b="1" sz="1400">
                <a:solidFill>
                  <a:srgbClr val="3B82F6"/>
                </a:solidFill>
              </a:rPr>
              <a:t>TUTORIALS  </a:t>
            </a:r>
            <a:r>
              <a:rPr sz="1100">
                <a:solidFill>
                  <a:srgbClr val="6B7280"/>
                </a:solidFill>
              </a:rPr>
              <a:t>|   Smart Schools &amp; Coaching SaaS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Confidential - For Investor Presentation  •  Slide 1 of 8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88720"/>
            <a:ext cx="11067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37744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EF4444"/>
                </a:solidFill>
              </a:rPr>
              <a:t>🚀 MAKING SCHOOLS &amp; COACHING INSTITUTES SMARTER
</a:t>
            </a:r>
          </a:p>
          <a:p>
            <a:pPr algn="ctr"/>
            <a:r>
              <a:rPr b="1" sz="2800">
                <a:solidFill>
                  <a:srgbClr val="FFFFFF"/>
                </a:solidFill>
              </a:rPr>
              <a:t>The Complete Smart LMS, Live Classes &amp;
Voice AI Operating System</a:t>
            </a:r>
          </a:p>
          <a:p>
            <a:pPr algn="ctr"/>
            <a:r>
              <a:rPr sz="1300">
                <a:solidFill>
                  <a:srgbClr val="9CA3AF"/>
                </a:solidFill>
              </a:rPr>
              <a:t>
Empowering Schools, K-12 Institutions &amp; Coaching Centers with complete LMS service, Live Classes,
Online Fee Payments, ST Guruji Voice AI in Sudhir Sir's Natural Voice, and Auto Student Weakness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937760"/>
            <a:ext cx="2377440" cy="109728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029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FFFFFF"/>
                </a:solidFill>
              </a:rPr>
              <a:t>🏫 Smart LMS
</a:t>
            </a:r>
          </a:p>
          <a:p>
            <a:r>
              <a:rPr sz="1000">
                <a:solidFill>
                  <a:srgbClr val="9CA3AF"/>
                </a:solidFill>
              </a:rPr>
              <a:t>School &amp; Institute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4937760"/>
            <a:ext cx="2377440" cy="109728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5029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FFFFFF"/>
                </a:solidFill>
              </a:rPr>
              <a:t>🎥 Live Classes
</a:t>
            </a:r>
          </a:p>
          <a:p>
            <a:r>
              <a:rPr sz="1000">
                <a:solidFill>
                  <a:srgbClr val="9CA3AF"/>
                </a:solidFill>
              </a:rPr>
              <a:t>Interactive Online Lectures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937760"/>
            <a:ext cx="2377440" cy="109728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029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FFFFFF"/>
                </a:solidFill>
              </a:rPr>
              <a:t>💳 Online Fee Pay
</a:t>
            </a:r>
          </a:p>
          <a:p>
            <a:r>
              <a:rPr sz="1000">
                <a:solidFill>
                  <a:srgbClr val="9CA3AF"/>
                </a:solidFill>
              </a:rPr>
              <a:t>UPI/Card Gateway &amp; Ledger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4937760"/>
            <a:ext cx="2377440" cy="109728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5029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FFFFFF"/>
                </a:solidFill>
              </a:rPr>
              <a:t>🎙️ Voice AI Tutor
</a:t>
            </a:r>
          </a:p>
          <a:p>
            <a:r>
              <a:rPr sz="1000">
                <a:solidFill>
                  <a:srgbClr val="9CA3AF"/>
                </a:solidFill>
              </a:rPr>
              <a:t>Sudhir Sir's Real Voice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15043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F4444"/>
                </a:solidFill>
              </a:rPr>
              <a:t>SUDHIR </a:t>
            </a:r>
            <a:r>
              <a:rPr b="1" sz="1400">
                <a:solidFill>
                  <a:srgbClr val="3B82F6"/>
                </a:solidFill>
              </a:rPr>
              <a:t>TUTORIALS  </a:t>
            </a:r>
            <a:r>
              <a:rPr sz="1100">
                <a:solidFill>
                  <a:srgbClr val="6B7280"/>
                </a:solidFill>
              </a:rPr>
              <a:t>|   Smart Schools &amp; Coaching SaaS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Confidential - For Investor Presentation  •  Slide 2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EF4444"/>
                </a:solidFill>
              </a:rPr>
              <a:t>01. INDUSTRY PAIN POINTS
</a:t>
            </a:r>
          </a:p>
          <a:p>
            <a:r>
              <a:rPr b="1" sz="2200">
                <a:solidFill>
                  <a:srgbClr val="FFFFFF"/>
                </a:solidFill>
              </a:rPr>
              <a:t>Why Traditional Schools &amp; Tuition Centers Struggle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192024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💸 Fee Delays &amp; Manual Cash Handling
</a:t>
            </a:r>
          </a:p>
          <a:p>
            <a:r>
              <a:rPr sz="1100">
                <a:solidFill>
                  <a:srgbClr val="9CA3AF"/>
                </a:solidFill>
              </a:rPr>
              <a:t>Institutions lose 15-20% revenue due to delayed dues, paper receipts, unorganized cash registers, and zero online payment options.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212080" cy="192024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📹 No Integrated Live Class Platform
</a:t>
            </a:r>
          </a:p>
          <a:p>
            <a:r>
              <a:rPr sz="1100">
                <a:solidFill>
                  <a:srgbClr val="9CA3AF"/>
                </a:solidFill>
              </a:rPr>
              <a:t>Rely on fragmented 3rd party video links with zero automatic lecture archives, attendance sync, or homework integration.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12080" cy="192024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🔍 Zero Student Weak-Spot Visibility
</a:t>
            </a:r>
          </a:p>
          <a:p>
            <a:r>
              <a:rPr sz="1100">
                <a:solidFill>
                  <a:srgbClr val="9CA3AF"/>
                </a:solidFill>
              </a:rPr>
              <a:t>Students receive marks without understanding where they lack conceptually or what specific revision steps they must take.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14800"/>
            <a:ext cx="5212080" cy="192024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976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🎙️ No 24/7 Access to Master Faculty
</a:t>
            </a:r>
          </a:p>
          <a:p>
            <a:r>
              <a:rPr sz="1100">
                <a:solidFill>
                  <a:srgbClr val="9CA3AF"/>
                </a:solidFill>
              </a:rPr>
              <a:t>Students get stuck late at night on homework doubts. Teachers are unavailable, causing learning drops &amp; parent dissatisfaction.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15043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F4444"/>
                </a:solidFill>
              </a:rPr>
              <a:t>SUDHIR </a:t>
            </a:r>
            <a:r>
              <a:rPr b="1" sz="1400">
                <a:solidFill>
                  <a:srgbClr val="3B82F6"/>
                </a:solidFill>
              </a:rPr>
              <a:t>TUTORIALS  </a:t>
            </a:r>
            <a:r>
              <a:rPr sz="1100">
                <a:solidFill>
                  <a:srgbClr val="6B7280"/>
                </a:solidFill>
              </a:rPr>
              <a:t>|   Smart Schools &amp; Coaching SaaS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Confidential - For Investor Presentation  •  Slide 3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3B82F6"/>
                </a:solidFill>
              </a:rPr>
              <a:t>02. UNIFIED SOLUTION
</a:t>
            </a:r>
          </a:p>
          <a:p>
            <a:r>
              <a:rPr b="1" sz="2200">
                <a:solidFill>
                  <a:srgbClr val="FFFFFF"/>
                </a:solidFill>
              </a:rPr>
              <a:t>Making Both Schools &amp; Coaching Institutes Smarter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3B82F6"/>
                </a:solidFill>
              </a:rPr>
              <a:t>🏫 For Schools (Smart K-12 LMS)
</a:t>
            </a:r>
          </a:p>
          <a:p>
            <a:r>
              <a:rPr sz="1200">
                <a:solidFill>
                  <a:srgbClr val="9CA3AF"/>
                </a:solidFill>
              </a:rPr>
              <a:t>• Full LMS Service: Class syllabi, digital assignments, study material vault &amp; homework tracking.
</a:t>
            </a:r>
          </a:p>
          <a:p>
            <a:r>
              <a:rPr sz="1200">
                <a:solidFill>
                  <a:srgbClr val="9CA3AF"/>
                </a:solidFill>
              </a:rPr>
              <a:t>• Online Fee Payment Portal: Instant UPI, Cards, Netbanking with auto PDF receipts &amp; parent SMS.
</a:t>
            </a:r>
          </a:p>
          <a:p>
            <a:r>
              <a:rPr sz="1200">
                <a:solidFill>
                  <a:srgbClr val="9CA3AF"/>
                </a:solidFill>
              </a:rPr>
              <a:t>• Live Virtual Classrooms: Conduct live lectures with attendance tracking &amp; lecture recordings.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EF4444"/>
                </a:solidFill>
              </a:rPr>
              <a:t>🎓 For Coaching &amp; Tuition Hubs
</a:t>
            </a:r>
          </a:p>
          <a:p>
            <a:r>
              <a:rPr sz="1200">
                <a:solidFill>
                  <a:srgbClr val="9CA3AF"/>
                </a:solidFill>
              </a:rPr>
              <a:t>• Automated Fee Ledger Engine: Auto monthly billing, scholarship rules &amp; late fine accumulation.
</a:t>
            </a:r>
          </a:p>
          <a:p>
            <a:r>
              <a:rPr sz="1200">
                <a:solidFill>
                  <a:srgbClr val="9CA3AF"/>
                </a:solidFill>
              </a:rPr>
              <a:t>• ST Guruji Voice AI Tutor: Doubts cleared in Sudhir Sir's real voice 24/7.
</a:t>
            </a:r>
          </a:p>
          <a:p>
            <a:r>
              <a:rPr sz="1200">
                <a:solidFill>
                  <a:srgbClr val="9CA3AF"/>
                </a:solidFill>
              </a:rPr>
              <a:t>• AI Student Weakness Insights: Auto-detects weak topics &amp; delivers actionable study guides.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15043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F4444"/>
                </a:solidFill>
              </a:rPr>
              <a:t>SUDHIR </a:t>
            </a:r>
            <a:r>
              <a:rPr b="1" sz="1400">
                <a:solidFill>
                  <a:srgbClr val="3B82F6"/>
                </a:solidFill>
              </a:rPr>
              <a:t>TUTORIALS  </a:t>
            </a:r>
            <a:r>
              <a:rPr sz="1100">
                <a:solidFill>
                  <a:srgbClr val="6B7280"/>
                </a:solidFill>
              </a:rPr>
              <a:t>|   Smart Schools &amp; Coaching SaaS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Confidential - For Investor Presentation  •  Slide 4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03. COMPREHENSIVE PLATFORM MODULES
</a:t>
            </a:r>
          </a:p>
          <a:p>
            <a:r>
              <a:rPr b="1" sz="2200">
                <a:solidFill>
                  <a:srgbClr val="FFFFFF"/>
                </a:solidFill>
              </a:rPr>
              <a:t>All Features Built for Institutional Excellence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60320" cy="192024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</a:rPr>
              <a:t>🎙️ ST Guruji Voice AI
</a:t>
            </a:r>
          </a:p>
          <a:p>
            <a:r>
              <a:rPr sz="950">
                <a:solidFill>
                  <a:srgbClr val="9CA3AF"/>
                </a:solidFill>
              </a:rPr>
              <a:t>Answers doubts 24/7 in Sudhir Sir's real voice with step-by-step guidance.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560320" cy="192024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57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</a:rPr>
              <a:t>🧠 AI Weakness Insights
</a:t>
            </a:r>
          </a:p>
          <a:p>
            <a:r>
              <a:rPr sz="950">
                <a:solidFill>
                  <a:srgbClr val="9CA3AF"/>
                </a:solidFill>
              </a:rPr>
              <a:t>Portal auto-detects exact topic gaps (where student lacks) &amp; outputs action plans.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2560320" cy="192024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57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</a:rPr>
              <a:t>💳 Online Fee Pay &amp; Ledger
</a:t>
            </a:r>
          </a:p>
          <a:p>
            <a:r>
              <a:rPr sz="950">
                <a:solidFill>
                  <a:srgbClr val="9CA3AF"/>
                </a:solidFill>
              </a:rPr>
              <a:t>UPI/Card online fee pay, cash receipts, late fines, &amp; auto bank-style fee ledgers.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920240"/>
            <a:ext cx="2560320" cy="192024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057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</a:rPr>
              <a:t>📹 Live Classes &amp; Archives
</a:t>
            </a:r>
          </a:p>
          <a:p>
            <a:r>
              <a:rPr sz="950">
                <a:solidFill>
                  <a:srgbClr val="9CA3AF"/>
                </a:solidFill>
              </a:rPr>
              <a:t>Interactive live streaming lectures with auto attendance and video recording archives.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2560320" cy="192024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</a:rPr>
              <a:t>📚 Smart LMS Service
</a:t>
            </a:r>
          </a:p>
          <a:p>
            <a:r>
              <a:rPr sz="950">
                <a:solidFill>
                  <a:srgbClr val="9CA3AF"/>
                </a:solidFill>
              </a:rPr>
              <a:t>Curriculum notes, digital assignment submissions, homework tracking &amp; grading.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4023360"/>
            <a:ext cx="2560320" cy="192024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41605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</a:rPr>
              <a:t>📝 Test Suite &amp; Ranks
</a:t>
            </a:r>
          </a:p>
          <a:p>
            <a:r>
              <a:rPr sz="950">
                <a:solidFill>
                  <a:srgbClr val="9CA3AF"/>
                </a:solidFill>
              </a:rPr>
              <a:t>Online mock tests, auto OMR evaluation, automated marksheets &amp; rank boards.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023360"/>
            <a:ext cx="2560320" cy="192024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1605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</a:rPr>
              <a:t>📱 Multi-Role Mobile Apps
</a:t>
            </a:r>
          </a:p>
          <a:p>
            <a:r>
              <a:rPr sz="950">
                <a:solidFill>
                  <a:srgbClr val="9CA3AF"/>
                </a:solidFill>
              </a:rPr>
              <a:t>Native iOS/Android apps for Admins, Teachers, Students &amp; Parents with Push alerts.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4023360"/>
            <a:ext cx="2560320" cy="192024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41605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</a:rPr>
              <a:t>🛒 Store &amp; Admissions
</a:t>
            </a:r>
          </a:p>
          <a:p>
            <a:r>
              <a:rPr sz="950">
                <a:solidFill>
                  <a:srgbClr val="9CA3AF"/>
                </a:solidFill>
              </a:rPr>
              <a:t>Digital study material checkout store &amp; online admission lead funnel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15043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F4444"/>
                </a:solidFill>
              </a:rPr>
              <a:t>SUDHIR </a:t>
            </a:r>
            <a:r>
              <a:rPr b="1" sz="1400">
                <a:solidFill>
                  <a:srgbClr val="3B82F6"/>
                </a:solidFill>
              </a:rPr>
              <a:t>TUTORIALS  </a:t>
            </a:r>
            <a:r>
              <a:rPr sz="1100">
                <a:solidFill>
                  <a:srgbClr val="6B7280"/>
                </a:solidFill>
              </a:rPr>
              <a:t>|   Smart Schools &amp; Coaching SaaS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Confidential - For Investor Presentation  •  Slide 5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F59E0B"/>
                </a:solidFill>
              </a:rPr>
              <a:t>04. MARKET OPPORTUNITY
</a:t>
            </a:r>
          </a:p>
          <a:p>
            <a:r>
              <a:rPr b="1" sz="2200">
                <a:solidFill>
                  <a:srgbClr val="FFFFFF"/>
                </a:solidFill>
              </a:rPr>
              <a:t>Addressing Both Schools &amp; Coaching Centers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292608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9CA3AF"/>
                </a:solidFill>
              </a:rPr>
              <a:t>Combined TAM
</a:t>
            </a:r>
          </a:p>
          <a:p>
            <a:pPr algn="ctr"/>
            <a:r>
              <a:rPr b="1" sz="3600">
                <a:solidFill>
                  <a:srgbClr val="F59E0B"/>
                </a:solidFill>
              </a:rPr>
              <a:t>$25B+
</a:t>
            </a:r>
          </a:p>
          <a:p>
            <a:pPr algn="ctr"/>
            <a:r>
              <a:rPr sz="1100">
                <a:solidFill>
                  <a:srgbClr val="9CA3AF"/>
                </a:solidFill>
              </a:rPr>
              <a:t>1.5M+ K-12 Schools + 300K+ Coaching Centers in India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74720" cy="292608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9CA3AF"/>
                </a:solidFill>
              </a:rPr>
              <a:t>Target Institutions (SAM)
</a:t>
            </a:r>
          </a:p>
          <a:p>
            <a:pPr algn="ctr"/>
            <a:r>
              <a:rPr b="1" sz="3600">
                <a:solidFill>
                  <a:srgbClr val="EF4444"/>
                </a:solidFill>
              </a:rPr>
              <a:t>500,000+
</a:t>
            </a:r>
          </a:p>
          <a:p>
            <a:pPr algn="ctr"/>
            <a:r>
              <a:rPr sz="1100">
                <a:solidFill>
                  <a:srgbClr val="9CA3AF"/>
                </a:solidFill>
              </a:rPr>
              <a:t>Private Schools &amp; Tuition Centers Digitizing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011680"/>
            <a:ext cx="3474720" cy="292608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9CA3AF"/>
                </a:solidFill>
              </a:rPr>
              <a:t>Phase 1 Target (SOM)
</a:t>
            </a:r>
          </a:p>
          <a:p>
            <a:pPr algn="ctr"/>
            <a:r>
              <a:rPr b="1" sz="3600">
                <a:solidFill>
                  <a:srgbClr val="10B981"/>
                </a:solidFill>
              </a:rPr>
              <a:t>15,000+
</a:t>
            </a:r>
          </a:p>
          <a:p>
            <a:pPr algn="ctr"/>
            <a:r>
              <a:rPr sz="1100">
                <a:solidFill>
                  <a:srgbClr val="9CA3AF"/>
                </a:solidFill>
              </a:rPr>
              <a:t>Schools &amp; Coaching Hubs on SaaS Subscription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698480" cy="91440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FFFFFF"/>
                </a:solidFill>
              </a:rPr>
              <a:t>⚡ High Lifetime Value (LTV) &amp; Low Churn Moat
</a:t>
            </a:r>
          </a:p>
          <a:p>
            <a:r>
              <a:rPr sz="1100">
                <a:solidFill>
                  <a:srgbClr val="9CA3AF"/>
                </a:solidFill>
              </a:rPr>
              <a:t>Institutions lock in their complete school operations, live classes, student fee billing, and AI tutoring under Sudhir Tutorials.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15043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F4444"/>
                </a:solidFill>
              </a:rPr>
              <a:t>SUDHIR </a:t>
            </a:r>
            <a:r>
              <a:rPr b="1" sz="1400">
                <a:solidFill>
                  <a:srgbClr val="3B82F6"/>
                </a:solidFill>
              </a:rPr>
              <a:t>TUTORIALS  </a:t>
            </a:r>
            <a:r>
              <a:rPr sz="1100">
                <a:solidFill>
                  <a:srgbClr val="6B7280"/>
                </a:solidFill>
              </a:rPr>
              <a:t>|   Smart Schools &amp; Coaching SaaS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Confidential - For Investor Presentation  •  Slide 6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8B5CF6"/>
                </a:solidFill>
              </a:rPr>
              <a:t>05. BUSINESS MODEL
</a:t>
            </a:r>
          </a:p>
          <a:p>
            <a:r>
              <a:rPr b="1" sz="2200">
                <a:solidFill>
                  <a:srgbClr val="FFFFFF"/>
                </a:solidFill>
              </a:rPr>
              <a:t>Predictable SaaS Subscription Plans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411480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B82F6"/>
                </a:solidFill>
              </a:rPr>
              <a:t>Smart School Basic
</a:t>
            </a:r>
          </a:p>
          <a:p>
            <a:r>
              <a:rPr b="1" sz="2200">
                <a:solidFill>
                  <a:srgbClr val="FFFFFF"/>
                </a:solidFill>
              </a:rPr>
              <a:t>₹3,999 / mo
</a:t>
            </a:r>
          </a:p>
          <a:p>
            <a:r>
              <a:rPr sz="1000">
                <a:solidFill>
                  <a:srgbClr val="9CA3AF"/>
                </a:solidFill>
              </a:rPr>
              <a:t>For small schools &amp; tuition hubs up to 250 students.
</a:t>
            </a:r>
          </a:p>
          <a:p>
            <a:r>
              <a:rPr sz="1100">
                <a:solidFill>
                  <a:srgbClr val="FFFFFF"/>
                </a:solidFill>
              </a:rPr>
              <a:t>• Smart LMS &amp; Materials Vault</a:t>
            </a:r>
          </a:p>
          <a:p>
            <a:r>
              <a:rPr sz="1100">
                <a:solidFill>
                  <a:srgbClr val="FFFFFF"/>
                </a:solidFill>
              </a:rPr>
              <a:t>• Online Fee Pay &amp; Cash Ledger</a:t>
            </a:r>
          </a:p>
          <a:p>
            <a:r>
              <a:rPr sz="1100">
                <a:solidFill>
                  <a:srgbClr val="FFFFFF"/>
                </a:solidFill>
              </a:rPr>
              <a:t>• Attendance &amp; Report Cards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74720" cy="411480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EF4444"/>
                </a:solidFill>
              </a:rPr>
              <a:t>Smart School + AI Pro
</a:t>
            </a:r>
          </a:p>
          <a:p>
            <a:r>
              <a:rPr b="1" sz="2200">
                <a:solidFill>
                  <a:srgbClr val="FFFFFF"/>
                </a:solidFill>
              </a:rPr>
              <a:t>₹7,999 / mo
</a:t>
            </a:r>
          </a:p>
          <a:p>
            <a:r>
              <a:rPr sz="1000">
                <a:solidFill>
                  <a:srgbClr val="9CA3AF"/>
                </a:solidFill>
              </a:rPr>
              <a:t>For growing institutions up to 750 students.
</a:t>
            </a:r>
          </a:p>
          <a:p>
            <a:r>
              <a:rPr sz="1100">
                <a:solidFill>
                  <a:srgbClr val="FFFFFF"/>
                </a:solidFill>
              </a:rPr>
              <a:t>• Everything in Basic</a:t>
            </a:r>
          </a:p>
          <a:p>
            <a:r>
              <a:rPr sz="1100">
                <a:solidFill>
                  <a:srgbClr val="FFFFFF"/>
                </a:solidFill>
              </a:rPr>
              <a:t>• Live Classes &amp; Video Archives</a:t>
            </a:r>
          </a:p>
          <a:p>
            <a:r>
              <a:rPr sz="1100">
                <a:solidFill>
                  <a:srgbClr val="FFFFFF"/>
                </a:solidFill>
              </a:rPr>
              <a:t>• ST Guruji Voice AI Tutor</a:t>
            </a:r>
          </a:p>
          <a:p>
            <a:r>
              <a:rPr sz="1100">
                <a:solidFill>
                  <a:srgbClr val="FFFFFF"/>
                </a:solidFill>
              </a:rPr>
              <a:t>• AI Student Weakness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011680"/>
            <a:ext cx="3474720" cy="411480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0B981"/>
                </a:solidFill>
              </a:rPr>
              <a:t>Enterprise Chain
</a:t>
            </a:r>
          </a:p>
          <a:p>
            <a:r>
              <a:rPr b="1" sz="2200">
                <a:solidFill>
                  <a:srgbClr val="FFFFFF"/>
                </a:solidFill>
              </a:rPr>
              <a:t>Custom Pricing
</a:t>
            </a:r>
          </a:p>
          <a:p>
            <a:r>
              <a:rPr sz="1000">
                <a:solidFill>
                  <a:srgbClr val="9CA3AF"/>
                </a:solidFill>
              </a:rPr>
              <a:t>Multi-branch schools &amp; coaching chains (1,000+ students).
</a:t>
            </a:r>
          </a:p>
          <a:p>
            <a:r>
              <a:rPr sz="1100">
                <a:solidFill>
                  <a:srgbClr val="FFFFFF"/>
                </a:solidFill>
              </a:rPr>
              <a:t>• Multi-Branch ERP Integration</a:t>
            </a:r>
          </a:p>
          <a:p>
            <a:r>
              <a:rPr sz="1100">
                <a:solidFill>
                  <a:srgbClr val="FFFFFF"/>
                </a:solidFill>
              </a:rPr>
              <a:t>• Custom Principal Voice Clone</a:t>
            </a:r>
          </a:p>
          <a:p>
            <a:r>
              <a:rPr sz="1100">
                <a:solidFill>
                  <a:srgbClr val="FFFFFF"/>
                </a:solidFill>
              </a:rPr>
              <a:t>• Priority Dedicated Cloud 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15043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F4444"/>
                </a:solidFill>
              </a:rPr>
              <a:t>SUDHIR </a:t>
            </a:r>
            <a:r>
              <a:rPr b="1" sz="1400">
                <a:solidFill>
                  <a:srgbClr val="3B82F6"/>
                </a:solidFill>
              </a:rPr>
              <a:t>TUTORIALS  </a:t>
            </a:r>
            <a:r>
              <a:rPr sz="1100">
                <a:solidFill>
                  <a:srgbClr val="6B7280"/>
                </a:solidFill>
              </a:rPr>
              <a:t>|   Smart Schools &amp; Coaching SaaS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Confidential - For Investor Presentation  •  Slide 7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06. EXPANSION STRATEGY
</a:t>
            </a:r>
          </a:p>
          <a:p>
            <a:r>
              <a:rPr b="1" sz="2200">
                <a:solidFill>
                  <a:srgbClr val="FFFFFF"/>
                </a:solidFill>
              </a:rPr>
              <a:t>Roadmap to Nationwide Leadership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474720" cy="393192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B82F6"/>
                </a:solidFill>
              </a:rPr>
              <a:t>Phase 1 (Months 1 - 6)
</a:t>
            </a:r>
          </a:p>
          <a:p>
            <a:r>
              <a:rPr b="1" sz="1600">
                <a:solidFill>
                  <a:srgbClr val="FFFFFF"/>
                </a:solidFill>
              </a:rPr>
              <a:t>Regional Schools &amp; Tuitions
</a:t>
            </a:r>
          </a:p>
          <a:p>
            <a:r>
              <a:rPr sz="1100">
                <a:solidFill>
                  <a:srgbClr val="9CA3AF"/>
                </a:solidFill>
              </a:rPr>
              <a:t>Deploy Smart LMS, Online Fee Pay &amp; ST Guruji Voice AI across 250+ regional schools &amp; coaching hubs.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103120"/>
            <a:ext cx="3474720" cy="393192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8B5CF6"/>
                </a:solidFill>
              </a:rPr>
              <a:t>Phase 2 (Months 7 - 18)
</a:t>
            </a:r>
          </a:p>
          <a:p>
            <a:r>
              <a:rPr b="1" sz="1600">
                <a:solidFill>
                  <a:srgbClr val="FFFFFF"/>
                </a:solidFill>
              </a:rPr>
              <a:t>Pan-India School Onboarding
</a:t>
            </a:r>
          </a:p>
          <a:p>
            <a:r>
              <a:rPr sz="1100">
                <a:solidFill>
                  <a:srgbClr val="9CA3AF"/>
                </a:solidFill>
              </a:rPr>
              <a:t>Scale to 2,000+ schools &amp; institutes in major educational hubs (Kota, Patna, Delhi, Hyderabad, Bangalore).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103120"/>
            <a:ext cx="3474720" cy="393192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0B981"/>
                </a:solidFill>
              </a:rPr>
              <a:t>Phase 3 (Months 19 - 36)
</a:t>
            </a:r>
          </a:p>
          <a:p>
            <a:r>
              <a:rPr b="1" sz="1600">
                <a:solidFill>
                  <a:srgbClr val="FFFFFF"/>
                </a:solidFill>
              </a:rPr>
              <a:t>EdTech Super Ecosystem
</a:t>
            </a:r>
          </a:p>
          <a:p>
            <a:r>
              <a:rPr sz="1100">
                <a:solidFill>
                  <a:srgbClr val="9CA3AF"/>
                </a:solidFill>
              </a:rPr>
              <a:t>Launch digital textbook store, automated exam generator &amp; multi-lingual voice AI tutors for schools.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415043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F4444"/>
                </a:solidFill>
              </a:rPr>
              <a:t>SUDHIR </a:t>
            </a:r>
            <a:r>
              <a:rPr b="1" sz="1400">
                <a:solidFill>
                  <a:srgbClr val="3B82F6"/>
                </a:solidFill>
              </a:rPr>
              <a:t>TUTORIALS  </a:t>
            </a:r>
            <a:r>
              <a:rPr sz="1100">
                <a:solidFill>
                  <a:srgbClr val="6B7280"/>
                </a:solidFill>
              </a:rPr>
              <a:t>|   Smart Schools &amp; Coaching SaaS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Confidential - For Investor Presentation  •  Slide 8 of 8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97280"/>
            <a:ext cx="922317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9456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10B981"/>
                </a:solidFill>
              </a:rPr>
              <a:t>🤝 SEED ROUND OPPORTUNITY
</a:t>
            </a:r>
          </a:p>
          <a:p>
            <a:pPr algn="ctr"/>
            <a:r>
              <a:rPr b="1" sz="2600">
                <a:solidFill>
                  <a:srgbClr val="FFFFFF"/>
                </a:solidFill>
              </a:rPr>
              <a:t>Partner with Us to Power Next-Gen
Smart Schools &amp; AI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3840480"/>
            <a:ext cx="7406640" cy="2286000"/>
          </a:xfrm>
          <a:prstGeom prst="roundRect">
            <a:avLst/>
          </a:prstGeom>
          <a:solidFill>
            <a:srgbClr val="12141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3931920"/>
            <a:ext cx="7040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0B981"/>
                </a:solidFill>
              </a:rPr>
              <a:t>Funding Target: ₹2.5 Crore ($300K)   |   Round: Seed Round
</a:t>
            </a:r>
          </a:p>
          <a:p>
            <a:r>
              <a:rPr sz="1100">
                <a:solidFill>
                  <a:srgbClr val="FFFFFF"/>
                </a:solidFill>
              </a:rPr>
              <a:t>• 45% - LMS &amp; Voice AI Model Engineering</a:t>
            </a:r>
          </a:p>
          <a:p>
            <a:r>
              <a:rPr sz="1100">
                <a:solidFill>
                  <a:srgbClr val="FFFFFF"/>
                </a:solidFill>
              </a:rPr>
              <a:t>• 35% - School &amp; Institute Sales Acquisition</a:t>
            </a:r>
          </a:p>
          <a:p>
            <a:r>
              <a:rPr sz="1100">
                <a:solidFill>
                  <a:srgbClr val="FFFFFF"/>
                </a:solidFill>
              </a:rPr>
              <a:t>• 20% - Cloud Scaling &amp; Operations
</a:t>
            </a:r>
          </a:p>
          <a:p>
            <a:r>
              <a:rPr sz="1100">
                <a:solidFill>
                  <a:srgbClr val="FFFFFF"/>
                </a:solidFill>
              </a:rPr>
              <a:t>📧 Contact: contact@sudhirtutorials.me   |   🌐 Website: sudhirtutorials.me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